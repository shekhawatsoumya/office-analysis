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charts/chart6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1" r:id="rId25"/>
    <p:sldId id="282" r:id="rId26"/>
    <p:sldId id="283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BF4BC6-7992-47D1-8AA5-E6FE9A30A584}" v="10" dt="2026-03-19T09:44:16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i Shekhawat" userId="0309683e1721122f" providerId="LiveId" clId="{81579934-A0E3-4E5B-A9C3-621F00061F9F}"/>
    <pc:docChg chg="undo custSel delSld modSld">
      <pc:chgData name="Sonali Shekhawat" userId="0309683e1721122f" providerId="LiveId" clId="{81579934-A0E3-4E5B-A9C3-621F00061F9F}" dt="2026-03-19T09:48:20.486" v="161" actId="478"/>
      <pc:docMkLst>
        <pc:docMk/>
      </pc:docMkLst>
      <pc:sldChg chg="delSp modSp mod">
        <pc:chgData name="Sonali Shekhawat" userId="0309683e1721122f" providerId="LiveId" clId="{81579934-A0E3-4E5B-A9C3-621F00061F9F}" dt="2026-03-19T09:34:45.350" v="9" actId="478"/>
        <pc:sldMkLst>
          <pc:docMk/>
          <pc:sldMk cId="0" sldId="256"/>
        </pc:sldMkLst>
        <pc:spChg chg="mod">
          <ac:chgData name="Sonali Shekhawat" userId="0309683e1721122f" providerId="LiveId" clId="{81579934-A0E3-4E5B-A9C3-621F00061F9F}" dt="2026-03-19T09:34:35.346" v="7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4:17.958" v="6" actId="13926"/>
          <ac:spMkLst>
            <pc:docMk/>
            <pc:sldMk cId="0" sldId="256"/>
            <ac:spMk id="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4:17.958" v="6" actId="13926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Sonali Shekhawat" userId="0309683e1721122f" providerId="LiveId" clId="{81579934-A0E3-4E5B-A9C3-621F00061F9F}" dt="2026-03-19T09:34:45.350" v="9" actId="4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Sonali Shekhawat" userId="0309683e1721122f" providerId="LiveId" clId="{81579934-A0E3-4E5B-A9C3-621F00061F9F}" dt="2026-03-19T09:34:39.287" v="8" actId="478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Sonali Shekhawat" userId="0309683e1721122f" providerId="LiveId" clId="{81579934-A0E3-4E5B-A9C3-621F00061F9F}" dt="2026-03-19T09:33:58.376" v="3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34:01.154" v="4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4:17.958" v="6" actId="1392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4:17.958" v="6" actId="1392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4:17.958" v="6" actId="1392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4:17.958" v="6" actId="1392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4:17.958" v="6" actId="1392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4:17.958" v="6" actId="13926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Sonali Shekhawat" userId="0309683e1721122f" providerId="LiveId" clId="{81579934-A0E3-4E5B-A9C3-621F00061F9F}" dt="2026-03-19T09:35:11.070" v="39" actId="20577"/>
        <pc:sldMkLst>
          <pc:docMk/>
          <pc:sldMk cId="0" sldId="257"/>
        </pc:sldMkLst>
        <pc:spChg chg="mod">
          <ac:chgData name="Sonali Shekhawat" userId="0309683e1721122f" providerId="LiveId" clId="{81579934-A0E3-4E5B-A9C3-621F00061F9F}" dt="2026-03-19T09:34:53.621" v="18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5:07.346" v="28" actId="20577"/>
          <ac:spMkLst>
            <pc:docMk/>
            <pc:sldMk cId="0" sldId="257"/>
            <ac:spMk id="3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5:11.070" v="39" actId="20577"/>
          <ac:spMkLst>
            <pc:docMk/>
            <pc:sldMk cId="0" sldId="257"/>
            <ac:spMk id="39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35:36.351" v="43" actId="1076"/>
        <pc:sldMkLst>
          <pc:docMk/>
          <pc:sldMk cId="0" sldId="258"/>
        </pc:sldMkLst>
        <pc:spChg chg="del">
          <ac:chgData name="Sonali Shekhawat" userId="0309683e1721122f" providerId="LiveId" clId="{81579934-A0E3-4E5B-A9C3-621F00061F9F}" dt="2026-03-19T09:35:23.632" v="4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35:31.154" v="42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5:36.351" v="43" actId="1076"/>
          <ac:spMkLst>
            <pc:docMk/>
            <pc:sldMk cId="0" sldId="258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36:13.565" v="50" actId="1076"/>
        <pc:sldMkLst>
          <pc:docMk/>
          <pc:sldMk cId="0" sldId="259"/>
        </pc:sldMkLst>
        <pc:spChg chg="del mod">
          <ac:chgData name="Sonali Shekhawat" userId="0309683e1721122f" providerId="LiveId" clId="{81579934-A0E3-4E5B-A9C3-621F00061F9F}" dt="2026-03-19T09:36:03.146" v="47" actId="478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Sonali Shekhawat" userId="0309683e1721122f" providerId="LiveId" clId="{81579934-A0E3-4E5B-A9C3-621F00061F9F}" dt="2026-03-19T09:36:07.473" v="49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6:13.565" v="50" actId="1076"/>
          <ac:spMkLst>
            <pc:docMk/>
            <pc:sldMk cId="0" sldId="259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36:46.862" v="53" actId="1076"/>
        <pc:sldMkLst>
          <pc:docMk/>
          <pc:sldMk cId="0" sldId="261"/>
        </pc:sldMkLst>
        <pc:spChg chg="del">
          <ac:chgData name="Sonali Shekhawat" userId="0309683e1721122f" providerId="LiveId" clId="{81579934-A0E3-4E5B-A9C3-621F00061F9F}" dt="2026-03-19T09:36:43.550" v="52" actId="478"/>
          <ac:spMkLst>
            <pc:docMk/>
            <pc:sldMk cId="0" sldId="261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36:41.869" v="51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6:46.862" v="53" actId="1076"/>
          <ac:spMkLst>
            <pc:docMk/>
            <pc:sldMk cId="0" sldId="261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37:02.452" v="56" actId="1076"/>
        <pc:sldMkLst>
          <pc:docMk/>
          <pc:sldMk cId="0" sldId="262"/>
        </pc:sldMkLst>
        <pc:spChg chg="del">
          <ac:chgData name="Sonali Shekhawat" userId="0309683e1721122f" providerId="LiveId" clId="{81579934-A0E3-4E5B-A9C3-621F00061F9F}" dt="2026-03-19T09:36:59.499" v="55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36:57.953" v="54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7:02.452" v="56" actId="1076"/>
          <ac:spMkLst>
            <pc:docMk/>
            <pc:sldMk cId="0" sldId="262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37:14.937" v="59" actId="1076"/>
        <pc:sldMkLst>
          <pc:docMk/>
          <pc:sldMk cId="0" sldId="263"/>
        </pc:sldMkLst>
        <pc:spChg chg="del">
          <ac:chgData name="Sonali Shekhawat" userId="0309683e1721122f" providerId="LiveId" clId="{81579934-A0E3-4E5B-A9C3-621F00061F9F}" dt="2026-03-19T09:37:11.322" v="58" actId="478"/>
          <ac:spMkLst>
            <pc:docMk/>
            <pc:sldMk cId="0" sldId="263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37:09.515" v="57" actId="478"/>
          <ac:spMkLst>
            <pc:docMk/>
            <pc:sldMk cId="0" sldId="263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7:14.937" v="59" actId="1076"/>
          <ac:spMkLst>
            <pc:docMk/>
            <pc:sldMk cId="0" sldId="263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37:48.029" v="63" actId="478"/>
        <pc:sldMkLst>
          <pc:docMk/>
          <pc:sldMk cId="0" sldId="264"/>
        </pc:sldMkLst>
        <pc:spChg chg="del">
          <ac:chgData name="Sonali Shekhawat" userId="0309683e1721122f" providerId="LiveId" clId="{81579934-A0E3-4E5B-A9C3-621F00061F9F}" dt="2026-03-19T09:37:24.761" v="60" actId="478"/>
          <ac:spMkLst>
            <pc:docMk/>
            <pc:sldMk cId="0" sldId="264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37:27.254" v="61" actId="478"/>
          <ac:spMkLst>
            <pc:docMk/>
            <pc:sldMk cId="0" sldId="264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7:30.988" v="62" actId="1076"/>
          <ac:spMkLst>
            <pc:docMk/>
            <pc:sldMk cId="0" sldId="264"/>
            <ac:spMk id="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37:48.029" v="63" actId="478"/>
          <ac:spMkLst>
            <pc:docMk/>
            <pc:sldMk cId="0" sldId="264"/>
            <ac:spMk id="41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38:02.457" v="66" actId="1076"/>
        <pc:sldMkLst>
          <pc:docMk/>
          <pc:sldMk cId="0" sldId="265"/>
        </pc:sldMkLst>
        <pc:spChg chg="del">
          <ac:chgData name="Sonali Shekhawat" userId="0309683e1721122f" providerId="LiveId" clId="{81579934-A0E3-4E5B-A9C3-621F00061F9F}" dt="2026-03-19T09:37:55.287" v="64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37:57.603" v="65" actId="478"/>
          <ac:spMkLst>
            <pc:docMk/>
            <pc:sldMk cId="0" sldId="265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8:02.457" v="66" actId="1076"/>
          <ac:spMkLst>
            <pc:docMk/>
            <pc:sldMk cId="0" sldId="265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39:09.508" v="72" actId="478"/>
        <pc:sldMkLst>
          <pc:docMk/>
          <pc:sldMk cId="0" sldId="266"/>
        </pc:sldMkLst>
        <pc:spChg chg="del">
          <ac:chgData name="Sonali Shekhawat" userId="0309683e1721122f" providerId="LiveId" clId="{81579934-A0E3-4E5B-A9C3-621F00061F9F}" dt="2026-03-19T09:38:35.572" v="67" actId="478"/>
          <ac:spMkLst>
            <pc:docMk/>
            <pc:sldMk cId="0" sldId="266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38:37.877" v="68" actId="478"/>
          <ac:spMkLst>
            <pc:docMk/>
            <pc:sldMk cId="0" sldId="266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8:40.923" v="69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9:02.609" v="71" actId="14100"/>
          <ac:spMkLst>
            <pc:docMk/>
            <pc:sldMk cId="0" sldId="266"/>
            <ac:spMk id="3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38:55.022" v="70" actId="478"/>
          <ac:spMkLst>
            <pc:docMk/>
            <pc:sldMk cId="0" sldId="266"/>
            <ac:spMk id="3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39:09.508" v="72" actId="478"/>
          <ac:spMkLst>
            <pc:docMk/>
            <pc:sldMk cId="0" sldId="266"/>
            <ac:spMk id="37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40:58.627" v="85" actId="1076"/>
        <pc:sldMkLst>
          <pc:docMk/>
          <pc:sldMk cId="0" sldId="267"/>
        </pc:sldMkLst>
        <pc:spChg chg="del">
          <ac:chgData name="Sonali Shekhawat" userId="0309683e1721122f" providerId="LiveId" clId="{81579934-A0E3-4E5B-A9C3-621F00061F9F}" dt="2026-03-19T09:39:17.253" v="73" actId="478"/>
          <ac:spMkLst>
            <pc:docMk/>
            <pc:sldMk cId="0" sldId="267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39:19.872" v="74" actId="478"/>
          <ac:spMkLst>
            <pc:docMk/>
            <pc:sldMk cId="0" sldId="267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39:23.762" v="75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0:30.069" v="82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0:30.069" v="82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0:58.627" v="85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0:58.627" v="85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0:30.069" v="82" actId="107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0:30.069" v="82" actId="107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0:38.999" v="84" actId="1076"/>
          <ac:spMkLst>
            <pc:docMk/>
            <pc:sldMk cId="0" sldId="267"/>
            <ac:spMk id="26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0:30.069" v="82" actId="1076"/>
          <ac:spMkLst>
            <pc:docMk/>
            <pc:sldMk cId="0" sldId="267"/>
            <ac:spMk id="27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0:30.069" v="82" actId="1076"/>
          <ac:spMkLst>
            <pc:docMk/>
            <pc:sldMk cId="0" sldId="267"/>
            <ac:spMk id="32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0:30.069" v="82" actId="1076"/>
          <ac:spMkLst>
            <pc:docMk/>
            <pc:sldMk cId="0" sldId="267"/>
            <ac:spMk id="33" creationId="{00000000-0000-0000-0000-000000000000}"/>
          </ac:spMkLst>
        </pc:spChg>
      </pc:sldChg>
      <pc:sldChg chg="modSp mod">
        <pc:chgData name="Sonali Shekhawat" userId="0309683e1721122f" providerId="LiveId" clId="{81579934-A0E3-4E5B-A9C3-621F00061F9F}" dt="2026-03-19T09:41:15.370" v="86" actId="20577"/>
        <pc:sldMkLst>
          <pc:docMk/>
          <pc:sldMk cId="0" sldId="268"/>
        </pc:sldMkLst>
        <pc:spChg chg="mod">
          <ac:chgData name="Sonali Shekhawat" userId="0309683e1721122f" providerId="LiveId" clId="{81579934-A0E3-4E5B-A9C3-621F00061F9F}" dt="2026-03-19T09:41:15.370" v="86" actId="20577"/>
          <ac:spMkLst>
            <pc:docMk/>
            <pc:sldMk cId="0" sldId="268"/>
            <ac:spMk id="21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41:39.447" v="89" actId="1076"/>
        <pc:sldMkLst>
          <pc:docMk/>
          <pc:sldMk cId="0" sldId="269"/>
        </pc:sldMkLst>
        <pc:spChg chg="del">
          <ac:chgData name="Sonali Shekhawat" userId="0309683e1721122f" providerId="LiveId" clId="{81579934-A0E3-4E5B-A9C3-621F00061F9F}" dt="2026-03-19T09:41:35.388" v="88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1:34.019" v="87" actId="478"/>
          <ac:spMkLst>
            <pc:docMk/>
            <pc:sldMk cId="0" sldId="269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1:39.447" v="89" actId="1076"/>
          <ac:spMkLst>
            <pc:docMk/>
            <pc:sldMk cId="0" sldId="269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41:53.502" v="93" actId="1076"/>
        <pc:sldMkLst>
          <pc:docMk/>
          <pc:sldMk cId="0" sldId="270"/>
        </pc:sldMkLst>
        <pc:spChg chg="del">
          <ac:chgData name="Sonali Shekhawat" userId="0309683e1721122f" providerId="LiveId" clId="{81579934-A0E3-4E5B-A9C3-621F00061F9F}" dt="2026-03-19T09:41:47.678" v="91" actId="478"/>
          <ac:spMkLst>
            <pc:docMk/>
            <pc:sldMk cId="0" sldId="270"/>
            <ac:spMk id="3" creationId="{00000000-0000-0000-0000-000000000000}"/>
          </ac:spMkLst>
        </pc:spChg>
        <pc:spChg chg="del mod">
          <ac:chgData name="Sonali Shekhawat" userId="0309683e1721122f" providerId="LiveId" clId="{81579934-A0E3-4E5B-A9C3-621F00061F9F}" dt="2026-03-19T09:41:50.367" v="92" actId="478"/>
          <ac:spMkLst>
            <pc:docMk/>
            <pc:sldMk cId="0" sldId="270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1:53.502" v="93" actId="1076"/>
          <ac:spMkLst>
            <pc:docMk/>
            <pc:sldMk cId="0" sldId="270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42:08.623" v="96" actId="1076"/>
        <pc:sldMkLst>
          <pc:docMk/>
          <pc:sldMk cId="0" sldId="271"/>
        </pc:sldMkLst>
        <pc:spChg chg="del">
          <ac:chgData name="Sonali Shekhawat" userId="0309683e1721122f" providerId="LiveId" clId="{81579934-A0E3-4E5B-A9C3-621F00061F9F}" dt="2026-03-19T09:42:03.217" v="94" actId="478"/>
          <ac:spMkLst>
            <pc:docMk/>
            <pc:sldMk cId="0" sldId="271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2:04.923" v="95" actId="478"/>
          <ac:spMkLst>
            <pc:docMk/>
            <pc:sldMk cId="0" sldId="271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2:08.623" v="96" actId="1076"/>
          <ac:spMkLst>
            <pc:docMk/>
            <pc:sldMk cId="0" sldId="271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42:20.792" v="99" actId="1076"/>
        <pc:sldMkLst>
          <pc:docMk/>
          <pc:sldMk cId="0" sldId="272"/>
        </pc:sldMkLst>
        <pc:spChg chg="del">
          <ac:chgData name="Sonali Shekhawat" userId="0309683e1721122f" providerId="LiveId" clId="{81579934-A0E3-4E5B-A9C3-621F00061F9F}" dt="2026-03-19T09:42:15.538" v="97" actId="478"/>
          <ac:spMkLst>
            <pc:docMk/>
            <pc:sldMk cId="0" sldId="272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2:18.099" v="98" actId="478"/>
          <ac:spMkLst>
            <pc:docMk/>
            <pc:sldMk cId="0" sldId="272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2:20.792" v="99" actId="1076"/>
          <ac:spMkLst>
            <pc:docMk/>
            <pc:sldMk cId="0" sldId="272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42:38.514" v="102" actId="1076"/>
        <pc:sldMkLst>
          <pc:docMk/>
          <pc:sldMk cId="0" sldId="273"/>
        </pc:sldMkLst>
        <pc:spChg chg="del">
          <ac:chgData name="Sonali Shekhawat" userId="0309683e1721122f" providerId="LiveId" clId="{81579934-A0E3-4E5B-A9C3-621F00061F9F}" dt="2026-03-19T09:42:31.743" v="100" actId="478"/>
          <ac:spMkLst>
            <pc:docMk/>
            <pc:sldMk cId="0" sldId="273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2:34.121" v="101" actId="478"/>
          <ac:spMkLst>
            <pc:docMk/>
            <pc:sldMk cId="0" sldId="273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2:38.514" v="102" actId="1076"/>
          <ac:spMkLst>
            <pc:docMk/>
            <pc:sldMk cId="0" sldId="273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42:50.748" v="105" actId="1076"/>
        <pc:sldMkLst>
          <pc:docMk/>
          <pc:sldMk cId="0" sldId="274"/>
        </pc:sldMkLst>
        <pc:spChg chg="del">
          <ac:chgData name="Sonali Shekhawat" userId="0309683e1721122f" providerId="LiveId" clId="{81579934-A0E3-4E5B-A9C3-621F00061F9F}" dt="2026-03-19T09:42:42.511" v="103" actId="478"/>
          <ac:spMkLst>
            <pc:docMk/>
            <pc:sldMk cId="0" sldId="274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2:46.052" v="104" actId="478"/>
          <ac:spMkLst>
            <pc:docMk/>
            <pc:sldMk cId="0" sldId="274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2:50.748" v="105" actId="1076"/>
          <ac:spMkLst>
            <pc:docMk/>
            <pc:sldMk cId="0" sldId="274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43:06.538" v="108" actId="1076"/>
        <pc:sldMkLst>
          <pc:docMk/>
          <pc:sldMk cId="0" sldId="275"/>
        </pc:sldMkLst>
        <pc:spChg chg="del">
          <ac:chgData name="Sonali Shekhawat" userId="0309683e1721122f" providerId="LiveId" clId="{81579934-A0E3-4E5B-A9C3-621F00061F9F}" dt="2026-03-19T09:42:57.473" v="106" actId="478"/>
          <ac:spMkLst>
            <pc:docMk/>
            <pc:sldMk cId="0" sldId="275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3:01.536" v="107" actId="478"/>
          <ac:spMkLst>
            <pc:docMk/>
            <pc:sldMk cId="0" sldId="275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3:06.538" v="108" actId="1076"/>
          <ac:spMkLst>
            <pc:docMk/>
            <pc:sldMk cId="0" sldId="275"/>
            <ac:spMk id="5" creationId="{00000000-0000-0000-0000-000000000000}"/>
          </ac:spMkLst>
        </pc:spChg>
      </pc:sldChg>
      <pc:sldChg chg="delSp modSp del mod">
        <pc:chgData name="Sonali Shekhawat" userId="0309683e1721122f" providerId="LiveId" clId="{81579934-A0E3-4E5B-A9C3-621F00061F9F}" dt="2026-03-19T09:44:20.538" v="123" actId="2696"/>
        <pc:sldMkLst>
          <pc:docMk/>
          <pc:sldMk cId="0" sldId="276"/>
        </pc:sldMkLst>
        <pc:spChg chg="del">
          <ac:chgData name="Sonali Shekhawat" userId="0309683e1721122f" providerId="LiveId" clId="{81579934-A0E3-4E5B-A9C3-621F00061F9F}" dt="2026-03-19T09:43:12.735" v="109" actId="478"/>
          <ac:spMkLst>
            <pc:docMk/>
            <pc:sldMk cId="0" sldId="276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3:15.223" v="110" actId="478"/>
          <ac:spMkLst>
            <pc:docMk/>
            <pc:sldMk cId="0" sldId="276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3:18.686" v="111" actId="1076"/>
          <ac:spMkLst>
            <pc:docMk/>
            <pc:sldMk cId="0" sldId="276"/>
            <ac:spMk id="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3:24.830" v="112" actId="478"/>
          <ac:spMkLst>
            <pc:docMk/>
            <pc:sldMk cId="0" sldId="276"/>
            <ac:spMk id="25" creationId="{00000000-0000-0000-0000-000000000000}"/>
          </ac:spMkLst>
        </pc:spChg>
        <pc:graphicFrameChg chg="mod">
          <ac:chgData name="Sonali Shekhawat" userId="0309683e1721122f" providerId="LiveId" clId="{81579934-A0E3-4E5B-A9C3-621F00061F9F}" dt="2026-03-19T09:44:16.829" v="122"/>
          <ac:graphicFrameMkLst>
            <pc:docMk/>
            <pc:sldMk cId="0" sldId="276"/>
            <ac:graphicFrameMk id="7" creationId="{00000000-0000-0000-0000-000000000000}"/>
          </ac:graphicFrameMkLst>
        </pc:graphicFrameChg>
      </pc:sldChg>
      <pc:sldChg chg="delSp modSp mod">
        <pc:chgData name="Sonali Shekhawat" userId="0309683e1721122f" providerId="LiveId" clId="{81579934-A0E3-4E5B-A9C3-621F00061F9F}" dt="2026-03-19T09:44:30.955" v="126" actId="1076"/>
        <pc:sldMkLst>
          <pc:docMk/>
          <pc:sldMk cId="0" sldId="277"/>
        </pc:sldMkLst>
        <pc:spChg chg="del">
          <ac:chgData name="Sonali Shekhawat" userId="0309683e1721122f" providerId="LiveId" clId="{81579934-A0E3-4E5B-A9C3-621F00061F9F}" dt="2026-03-19T09:44:25.093" v="124" actId="478"/>
          <ac:spMkLst>
            <pc:docMk/>
            <pc:sldMk cId="0" sldId="277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4:27.479" v="125" actId="478"/>
          <ac:spMkLst>
            <pc:docMk/>
            <pc:sldMk cId="0" sldId="277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4:30.955" v="126" actId="1076"/>
          <ac:spMkLst>
            <pc:docMk/>
            <pc:sldMk cId="0" sldId="277"/>
            <ac:spMk id="5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44:59.851" v="133" actId="14100"/>
        <pc:sldMkLst>
          <pc:docMk/>
          <pc:sldMk cId="0" sldId="278"/>
        </pc:sldMkLst>
        <pc:spChg chg="del">
          <ac:chgData name="Sonali Shekhawat" userId="0309683e1721122f" providerId="LiveId" clId="{81579934-A0E3-4E5B-A9C3-621F00061F9F}" dt="2026-03-19T09:44:40.737" v="128" actId="478"/>
          <ac:spMkLst>
            <pc:docMk/>
            <pc:sldMk cId="0" sldId="278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4:39.135" v="127" actId="478"/>
          <ac:spMkLst>
            <pc:docMk/>
            <pc:sldMk cId="0" sldId="278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4:45.273" v="129" actId="1076"/>
          <ac:spMkLst>
            <pc:docMk/>
            <pc:sldMk cId="0" sldId="278"/>
            <ac:spMk id="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4:53.557" v="131" actId="478"/>
          <ac:spMkLst>
            <pc:docMk/>
            <pc:sldMk cId="0" sldId="278"/>
            <ac:spMk id="27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4:57.395" v="132" actId="478"/>
          <ac:spMkLst>
            <pc:docMk/>
            <pc:sldMk cId="0" sldId="278"/>
            <ac:spMk id="28" creationId="{00000000-0000-0000-0000-000000000000}"/>
          </ac:spMkLst>
        </pc:spChg>
        <pc:picChg chg="mod">
          <ac:chgData name="Sonali Shekhawat" userId="0309683e1721122f" providerId="LiveId" clId="{81579934-A0E3-4E5B-A9C3-621F00061F9F}" dt="2026-03-19T09:44:59.851" v="133" actId="14100"/>
          <ac:picMkLst>
            <pc:docMk/>
            <pc:sldMk cId="0" sldId="278"/>
            <ac:picMk id="6" creationId="{00000000-0000-0000-0000-000000000000}"/>
          </ac:picMkLst>
        </pc:picChg>
      </pc:sldChg>
      <pc:sldChg chg="delSp modSp mod">
        <pc:chgData name="Sonali Shekhawat" userId="0309683e1721122f" providerId="LiveId" clId="{81579934-A0E3-4E5B-A9C3-621F00061F9F}" dt="2026-03-19T09:45:23.123" v="138" actId="478"/>
        <pc:sldMkLst>
          <pc:docMk/>
          <pc:sldMk cId="0" sldId="279"/>
        </pc:sldMkLst>
        <pc:spChg chg="del">
          <ac:chgData name="Sonali Shekhawat" userId="0309683e1721122f" providerId="LiveId" clId="{81579934-A0E3-4E5B-A9C3-621F00061F9F}" dt="2026-03-19T09:45:05.048" v="134" actId="478"/>
          <ac:spMkLst>
            <pc:docMk/>
            <pc:sldMk cId="0" sldId="279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5:07.100" v="135" actId="478"/>
          <ac:spMkLst>
            <pc:docMk/>
            <pc:sldMk cId="0" sldId="279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5:11.109" v="136" actId="1076"/>
          <ac:spMkLst>
            <pc:docMk/>
            <pc:sldMk cId="0" sldId="279"/>
            <ac:spMk id="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5:15.859" v="137" actId="478"/>
          <ac:spMkLst>
            <pc:docMk/>
            <pc:sldMk cId="0" sldId="279"/>
            <ac:spMk id="3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5:23.123" v="138" actId="478"/>
          <ac:spMkLst>
            <pc:docMk/>
            <pc:sldMk cId="0" sldId="279"/>
            <ac:spMk id="35" creationId="{00000000-0000-0000-0000-000000000000}"/>
          </ac:spMkLst>
        </pc:spChg>
      </pc:sldChg>
      <pc:sldChg chg="delSp modSp del mod">
        <pc:chgData name="Sonali Shekhawat" userId="0309683e1721122f" providerId="LiveId" clId="{81579934-A0E3-4E5B-A9C3-621F00061F9F}" dt="2026-03-19T09:45:47.044" v="142" actId="2696"/>
        <pc:sldMkLst>
          <pc:docMk/>
          <pc:sldMk cId="0" sldId="280"/>
        </pc:sldMkLst>
        <pc:spChg chg="del">
          <ac:chgData name="Sonali Shekhawat" userId="0309683e1721122f" providerId="LiveId" clId="{81579934-A0E3-4E5B-A9C3-621F00061F9F}" dt="2026-03-19T09:45:28.808" v="139" actId="478"/>
          <ac:spMkLst>
            <pc:docMk/>
            <pc:sldMk cId="0" sldId="280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5:30.844" v="140" actId="478"/>
          <ac:spMkLst>
            <pc:docMk/>
            <pc:sldMk cId="0" sldId="280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5:34.182" v="141" actId="1076"/>
          <ac:spMkLst>
            <pc:docMk/>
            <pc:sldMk cId="0" sldId="280"/>
            <ac:spMk id="5" creationId="{00000000-0000-0000-0000-000000000000}"/>
          </ac:spMkLst>
        </pc:spChg>
      </pc:sldChg>
      <pc:sldChg chg="modSp mod">
        <pc:chgData name="Sonali Shekhawat" userId="0309683e1721122f" providerId="LiveId" clId="{81579934-A0E3-4E5B-A9C3-621F00061F9F}" dt="2026-03-19T09:47:59.465" v="156" actId="208"/>
        <pc:sldMkLst>
          <pc:docMk/>
          <pc:sldMk cId="0" sldId="281"/>
        </pc:sldMkLst>
        <pc:spChg chg="mod">
          <ac:chgData name="Sonali Shekhawat" userId="0309683e1721122f" providerId="LiveId" clId="{81579934-A0E3-4E5B-A9C3-621F00061F9F}" dt="2026-03-19T09:47:28.556" v="151" actId="208"/>
          <ac:spMkLst>
            <pc:docMk/>
            <pc:sldMk cId="0" sldId="281"/>
            <ac:spMk id="2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7:52.970" v="155" actId="208"/>
          <ac:spMkLst>
            <pc:docMk/>
            <pc:sldMk cId="0" sldId="281"/>
            <ac:spMk id="26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6:39.607" v="147" actId="207"/>
          <ac:spMkLst>
            <pc:docMk/>
            <pc:sldMk cId="0" sldId="281"/>
            <ac:spMk id="28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7:59.465" v="156" actId="208"/>
          <ac:spMkLst>
            <pc:docMk/>
            <pc:sldMk cId="0" sldId="281"/>
            <ac:spMk id="30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7:59.465" v="156" actId="208"/>
          <ac:spMkLst>
            <pc:docMk/>
            <pc:sldMk cId="0" sldId="281"/>
            <ac:spMk id="3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7:09.464" v="149" actId="207"/>
          <ac:spMkLst>
            <pc:docMk/>
            <pc:sldMk cId="0" sldId="281"/>
            <ac:spMk id="33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09:48:12.098" v="159" actId="1076"/>
        <pc:sldMkLst>
          <pc:docMk/>
          <pc:sldMk cId="0" sldId="282"/>
        </pc:sldMkLst>
        <pc:spChg chg="del">
          <ac:chgData name="Sonali Shekhawat" userId="0309683e1721122f" providerId="LiveId" clId="{81579934-A0E3-4E5B-A9C3-621F00061F9F}" dt="2026-03-19T09:48:07.912" v="158" actId="478"/>
          <ac:spMkLst>
            <pc:docMk/>
            <pc:sldMk cId="0" sldId="282"/>
            <ac:spMk id="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8:06.387" v="157" actId="478"/>
          <ac:spMkLst>
            <pc:docMk/>
            <pc:sldMk cId="0" sldId="282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09:48:12.098" v="159" actId="1076"/>
          <ac:spMkLst>
            <pc:docMk/>
            <pc:sldMk cId="0" sldId="282"/>
            <ac:spMk id="5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09:48:20.486" v="161" actId="478"/>
        <pc:sldMkLst>
          <pc:docMk/>
          <pc:sldMk cId="0" sldId="283"/>
        </pc:sldMkLst>
        <pc:spChg chg="del">
          <ac:chgData name="Sonali Shekhawat" userId="0309683e1721122f" providerId="LiveId" clId="{81579934-A0E3-4E5B-A9C3-621F00061F9F}" dt="2026-03-19T09:48:17.311" v="160" actId="478"/>
          <ac:spMkLst>
            <pc:docMk/>
            <pc:sldMk cId="0" sldId="283"/>
            <ac:spMk id="2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09:48:20.486" v="161" actId="478"/>
          <ac:spMkLst>
            <pc:docMk/>
            <pc:sldMk cId="0" sldId="283"/>
            <ac:spMk id="2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1B2B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20–25</c:v>
                </c:pt>
                <c:pt idx="1">
                  <c:v>25–30</c:v>
                </c:pt>
                <c:pt idx="2">
                  <c:v>30–35</c:v>
                </c:pt>
                <c:pt idx="3">
                  <c:v>35–40</c:v>
                </c:pt>
                <c:pt idx="4">
                  <c:v>40–45</c:v>
                </c:pt>
                <c:pt idx="5">
                  <c:v>45–50</c:v>
                </c:pt>
                <c:pt idx="6">
                  <c:v>50–55</c:v>
                </c:pt>
                <c:pt idx="7">
                  <c:v>55–60</c:v>
                </c:pt>
                <c:pt idx="8">
                  <c:v>60–65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28</c:v>
                </c:pt>
                <c:pt idx="2">
                  <c:v>35</c:v>
                </c:pt>
                <c:pt idx="3">
                  <c:v>15</c:v>
                </c:pt>
                <c:pt idx="4">
                  <c:v>8</c:v>
                </c:pt>
                <c:pt idx="5">
                  <c:v>6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B2-4D0C-952B-CDD2C64875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C2608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20–25</c:v>
                </c:pt>
                <c:pt idx="1">
                  <c:v>25–30</c:v>
                </c:pt>
                <c:pt idx="2">
                  <c:v>30–35</c:v>
                </c:pt>
                <c:pt idx="3">
                  <c:v>35–40</c:v>
                </c:pt>
                <c:pt idx="4">
                  <c:v>40–45</c:v>
                </c:pt>
                <c:pt idx="5">
                  <c:v>45–50</c:v>
                </c:pt>
                <c:pt idx="6">
                  <c:v>50–55</c:v>
                </c:pt>
                <c:pt idx="7">
                  <c:v>55–60</c:v>
                </c:pt>
                <c:pt idx="8">
                  <c:v>60–65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</c:v>
                </c:pt>
                <c:pt idx="1">
                  <c:v>25</c:v>
                </c:pt>
                <c:pt idx="2">
                  <c:v>32</c:v>
                </c:pt>
                <c:pt idx="3">
                  <c:v>12</c:v>
                </c:pt>
                <c:pt idx="4">
                  <c:v>7</c:v>
                </c:pt>
                <c:pt idx="5">
                  <c:v>5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B2-4D0C-952B-CDD2C64875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3B3-44D7-B0EC-E76205CE77BB}"/>
              </c:ext>
            </c:extLst>
          </c:dPt>
          <c:dPt>
            <c:idx val="1"/>
            <c:bubble3D val="0"/>
            <c:spPr>
              <a:solidFill>
                <a:srgbClr val="C260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B3-44D7-B0EC-E76205CE77B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3B3-44D7-B0EC-E76205CE77B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3B3-44D7-B0EC-E76205CE77B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 (51.16%)</c:v>
                </c:pt>
                <c:pt idx="1">
                  <c:v>Male (48.84%)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51.16</c:v>
                </c:pt>
                <c:pt idx="1">
                  <c:v>48.84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B3-44D7-B0EC-E76205CE77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C2608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Packaging Assoc.</c:v>
                </c:pt>
                <c:pt idx="1">
                  <c:v>Production Oper.</c:v>
                </c:pt>
                <c:pt idx="2">
                  <c:v>Sales Rep.</c:v>
                </c:pt>
                <c:pt idx="3">
                  <c:v>Chocolatier</c:v>
                </c:pt>
                <c:pt idx="4">
                  <c:v>Quality Control</c:v>
                </c:pt>
                <c:pt idx="5">
                  <c:v>Product Manager</c:v>
                </c:pt>
                <c:pt idx="6">
                  <c:v>Research Analyst</c:v>
                </c:pt>
                <c:pt idx="7">
                  <c:v>Research Scientist</c:v>
                </c:pt>
                <c:pt idx="8">
                  <c:v>Marketing Manager</c:v>
                </c:pt>
                <c:pt idx="9">
                  <c:v>Marketing Specialist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</c:v>
                </c:pt>
                <c:pt idx="1">
                  <c:v>20</c:v>
                </c:pt>
                <c:pt idx="2">
                  <c:v>18</c:v>
                </c:pt>
                <c:pt idx="3">
                  <c:v>17</c:v>
                </c:pt>
                <c:pt idx="4">
                  <c:v>17</c:v>
                </c:pt>
                <c:pt idx="5">
                  <c:v>16</c:v>
                </c:pt>
                <c:pt idx="6">
                  <c:v>16</c:v>
                </c:pt>
                <c:pt idx="7">
                  <c:v>15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F3-497D-B6B0-9722352641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Running Total</c:v>
                </c:pt>
              </c:strCache>
            </c:strRef>
          </c:tx>
          <c:spPr>
            <a:ln w="38100" cap="flat">
              <a:solidFill>
                <a:srgbClr val="2D6FB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6FBF"/>
              </a:solidFill>
              <a:ln w="9525" cap="flat">
                <a:solidFill>
                  <a:srgbClr val="2D6FB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B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 2018</c:v>
                </c:pt>
                <c:pt idx="1">
                  <c:v>Jun 2018</c:v>
                </c:pt>
                <c:pt idx="2">
                  <c:v>Jan 2019</c:v>
                </c:pt>
                <c:pt idx="3">
                  <c:v>Jun 2019</c:v>
                </c:pt>
                <c:pt idx="4">
                  <c:v>Jan 2020</c:v>
                </c:pt>
                <c:pt idx="5">
                  <c:v>Jun 2020</c:v>
                </c:pt>
                <c:pt idx="6">
                  <c:v>Jan 2021</c:v>
                </c:pt>
                <c:pt idx="7">
                  <c:v>Jun 2021</c:v>
                </c:pt>
                <c:pt idx="8">
                  <c:v>Jan 2022</c:v>
                </c:pt>
                <c:pt idx="9">
                  <c:v>Jun 2022</c:v>
                </c:pt>
                <c:pt idx="10">
                  <c:v>Jan 2023</c:v>
                </c:pt>
                <c:pt idx="11">
                  <c:v>Dec 2023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8</c:v>
                </c:pt>
                <c:pt idx="2">
                  <c:v>21</c:v>
                </c:pt>
                <c:pt idx="3">
                  <c:v>30</c:v>
                </c:pt>
                <c:pt idx="4">
                  <c:v>42</c:v>
                </c:pt>
                <c:pt idx="5">
                  <c:v>62</c:v>
                </c:pt>
                <c:pt idx="6">
                  <c:v>81</c:v>
                </c:pt>
                <c:pt idx="7">
                  <c:v>95</c:v>
                </c:pt>
                <c:pt idx="8">
                  <c:v>102</c:v>
                </c:pt>
                <c:pt idx="9">
                  <c:v>121</c:v>
                </c:pt>
                <c:pt idx="10">
                  <c:v>140</c:v>
                </c:pt>
                <c:pt idx="11">
                  <c:v>161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C98-42B8-8C74-C818A68374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Salary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Packaging Assoc.</c:v>
                </c:pt>
                <c:pt idx="1">
                  <c:v>Production Oper.</c:v>
                </c:pt>
                <c:pt idx="2">
                  <c:v>Sales Rep.</c:v>
                </c:pt>
                <c:pt idx="3">
                  <c:v>Chocolatier</c:v>
                </c:pt>
                <c:pt idx="4">
                  <c:v>Quality Control</c:v>
                </c:pt>
                <c:pt idx="5">
                  <c:v>Product Manager</c:v>
                </c:pt>
                <c:pt idx="6">
                  <c:v>Research Analyst</c:v>
                </c:pt>
                <c:pt idx="7">
                  <c:v>Research Scientist</c:v>
                </c:pt>
                <c:pt idx="8">
                  <c:v>Marketing Mgr.</c:v>
                </c:pt>
                <c:pt idx="9">
                  <c:v>Mktg Specialist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</c:v>
                </c:pt>
                <c:pt idx="1">
                  <c:v>42</c:v>
                </c:pt>
                <c:pt idx="2">
                  <c:v>52</c:v>
                </c:pt>
                <c:pt idx="3">
                  <c:v>48</c:v>
                </c:pt>
                <c:pt idx="4">
                  <c:v>46</c:v>
                </c:pt>
                <c:pt idx="5">
                  <c:v>68</c:v>
                </c:pt>
                <c:pt idx="6">
                  <c:v>62</c:v>
                </c:pt>
                <c:pt idx="7">
                  <c:v>65</c:v>
                </c:pt>
                <c:pt idx="8">
                  <c:v>72</c:v>
                </c:pt>
                <c:pt idx="9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B2-4E65-BDC8-61B1C27160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Pay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14-4775-89A8-0F221260731E}"/>
              </c:ext>
            </c:extLst>
          </c:dPt>
          <c:dPt>
            <c:idx val="1"/>
            <c:bubble3D val="0"/>
            <c:spPr>
              <a:solidFill>
                <a:srgbClr val="C260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14-4775-89A8-0F221260731E}"/>
              </c:ext>
            </c:extLst>
          </c:dPt>
          <c:cat>
            <c:strRef>
              <c:f>Sheet1!$A$2:$A$3</c:f>
              <c:strCache>
                <c:ptCount val="2"/>
                <c:pt idx="0">
                  <c:v>Female ($55.37K)</c:v>
                </c:pt>
                <c:pt idx="1">
                  <c:v>Male ($52.86K)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55.37</c:v>
                </c:pt>
                <c:pt idx="1">
                  <c:v>52.86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F14-4775-89A8-0F22126073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323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37160" cy="514350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76178"/>
            <a:ext cx="8321040" cy="2764302"/>
          </a:xfrm>
          <a:prstGeom prst="rect">
            <a:avLst/>
          </a:prstGeom>
          <a:solidFill>
            <a:schemeClr val="accent1">
              <a:lumMod val="50000"/>
              <a:alpha val="92000"/>
            </a:scheme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3657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188720"/>
            <a:ext cx="2377440" cy="6858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07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161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1554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Employees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2377440" cy="6858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21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$54.23K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468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Avg Salary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3017520"/>
            <a:ext cx="2377440" cy="6858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035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2018–2023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3401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Growth Period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" cy="38404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" y="96012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9601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Introduction &amp; Background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1719072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17190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Domain Overview &amp; Problem Statement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78024"/>
            <a:ext cx="38404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" y="2478024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24780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Project Objectives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36976"/>
            <a:ext cx="384048" cy="38404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" y="3236976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2369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Dataset Overview &amp; Data Summary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95928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" y="3995928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3995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Data Understanding, Cleaning &amp; Transformation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960120"/>
            <a:ext cx="38404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30368" y="960120"/>
            <a:ext cx="3520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03520" y="960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Tools &amp; Technologies | Business Questions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19072"/>
            <a:ext cx="384048" cy="38404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30368" y="1719072"/>
            <a:ext cx="3520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03520" y="17190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Exploratory Data Analysis (EDA)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478024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30368" y="2478024"/>
            <a:ext cx="3520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303520" y="2478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Charts &amp; Visual Insights 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3236976"/>
            <a:ext cx="38404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30368" y="3236976"/>
            <a:ext cx="3520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303520" y="32369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Dashboard Explanation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995928"/>
            <a:ext cx="384048" cy="38404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230368" y="3995928"/>
            <a:ext cx="3520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303520" y="39959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Key Insights | Recommendations | 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377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109728" cy="3749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Background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</a:rPr>
              <a:t>This project analyzes comprehensive workforce data for an organization that has undergone rapid growth from 2018–2023.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Dataset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6243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</a:rPr>
              <a:t>The dataset captures employee demographics, compensation structures, job titles, and hiring timelines across 161 employees.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Importance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8587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</a:rPr>
              <a:t>Understanding workforce composition helps leadership make evidence-based decisions on hiring, compensation equity, and retention.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97280"/>
            <a:ext cx="1965960" cy="73152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234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6FBF"/>
                </a:solidFill>
              </a:rPr>
              <a:t>161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17556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Total Employees Analyzed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10972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097280"/>
            <a:ext cx="19659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234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5+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17556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Years of Hiring 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51460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514600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10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09160" y="31729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Distinct Job Roles Covered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251460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2514600"/>
            <a:ext cx="1965960" cy="73152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2608E"/>
                </a:solidFill>
              </a:rPr>
              <a:t>2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58000" y="31729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Primary Gender Groups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977640"/>
            <a:ext cx="4114800" cy="7772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4005072"/>
            <a:ext cx="3931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</a:rPr>
              <a:t>This analysis empowers leadership with actionable intelligence about people, pay, and growth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109728" cy="187452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143000"/>
            <a:ext cx="347472" cy="347472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Industry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389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2D6FBF"/>
                </a:solidFill>
              </a:rPr>
              <a:t>Manufacturing &amp; Sales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719072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The organization blends production (Packaging, Operations) with commercial functions (Sales, Marketing), typical of a mid-size consumer goods company.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10972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1143000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Human Capital Mgmt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389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</a:rPr>
              <a:t>Workforce Analytics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64608" y="1719072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HR analytics converts raw employee data into strategic insights—turnover risk, pay equity, hiring efficiency, and skills gaps.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63240"/>
            <a:ext cx="109728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200400"/>
            <a:ext cx="34747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Workforce Demographics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4472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59E0B"/>
                </a:solidFill>
              </a:rPr>
              <a:t>People 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3776472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Demographic analysis (age, gender, tenure) reveals talent distribution, diversity health, and succession readiness across the org.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063240"/>
            <a:ext cx="109728" cy="187452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3200400"/>
            <a:ext cx="347472" cy="347472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3172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Compensation Strategy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34472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2608E"/>
                </a:solidFill>
              </a:rPr>
              <a:t>Pay Equity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3776472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Structured pay analysis ensures competitive and equitable remuneration, reducing attrition and legal exposure from pay gaps.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What challenges is this analysis designed to solve?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5029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Workforce Visibility Gap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62763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The organization lacked a centralized, visual understanding of its headcount composition, age distribution, and gender balance across departments.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94560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945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Compensation Opacity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254203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There was no clear picture of pay equity by gender, average compensation benchmarks, or the spread between minimum and maximum salaries.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841248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08960"/>
            <a:ext cx="502920" cy="74980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089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FBF"/>
                </a:solidFill>
              </a:rPr>
              <a:t>Growth Without Insight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345643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Despite rapid hiring (1→161 employees in 5 years), there was no structured analysis of hiring velocity, peaks, or recruitment efficiency over time.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23360"/>
            <a:ext cx="502920" cy="749808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233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608E"/>
                </a:solidFill>
              </a:rPr>
              <a:t>Role Imbalance Risk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437083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Heavy concentration in operational roles (Packaging, Production) without visibility into specialized vs. general role ratios creates strategic blind spots.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063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960120" cy="117043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960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143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</a:rPr>
              <a:t>Business Goal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48132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Build an interactive Power BI dashboard that gives HR and executive leadership an at-a-glance view of workforce health, pay equity, and growth trends.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31720"/>
            <a:ext cx="9601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31720"/>
            <a:ext cx="960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2468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</a:rPr>
              <a:t>End Goal (Expected Outcome)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80720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Deliver actionable, data-driven insights that guide decisions on hiring strategy, compensation benchmarking, diversity initiatives, and operational scaling.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57600"/>
            <a:ext cx="960120" cy="1170432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57600"/>
            <a:ext cx="960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5E"/>
                </a:solidFill>
              </a:rPr>
              <a:t>Analytical Goal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13308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Identify statistically significant patterns in age distribution, gender pay gaps, and hiring acceleration to support evidence-based HR policy recommendations.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3891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109728" cy="1170432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Data 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Internal HR Management System — exported as structured Excel (.xlsx) with one row per employee.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3891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10972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Dataset Size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80720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161 rows (employees) × 7 key columns covering identity, compensation, role, and tenure data.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3891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10972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Time Period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13308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January 2018 through December 2023 — capturing the full organizational growth lifecycle.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Key Variables &amp; Metrics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3886200" cy="3218688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2B5E"/>
                          </a:solidFill>
                        </a:rPr>
                        <a:t>Emp 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0D9488"/>
                          </a:solidFill>
                        </a:rPr>
                        <a:t>Integer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Unique employee identifier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2B5E"/>
                          </a:solidFill>
                        </a:rPr>
                        <a:t>First 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0D9488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Employee first name (A–F filter)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2B5E"/>
                          </a:solidFill>
                        </a:rPr>
                        <a:t>Gender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0D9488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Male / Female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2B5E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0D9488"/>
                          </a:solidFill>
                        </a:rPr>
                        <a:t>Integer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Age in years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2B5E"/>
                          </a:solidFill>
                        </a:rPr>
                        <a:t>Date of Join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0D9488"/>
                          </a:solidFill>
                        </a:rPr>
                        <a:t>Date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Hiring date (2018–2023)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2B5E"/>
                          </a:solidFill>
                        </a:rPr>
                        <a:t>Job Title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0D9488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10 distinct roles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B2B5E"/>
                          </a:solidFill>
                        </a:rPr>
                        <a:t>Salary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0D9488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Annual salary in USD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Summary — Statistical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1572768" cy="9144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24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6FBF"/>
                </a:solidFill>
              </a:rPr>
              <a:t>161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Total Employees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91440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914400"/>
            <a:ext cx="157276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024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$54.23K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93392" y="15270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Average Salary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12464" y="91440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12464" y="914400"/>
            <a:ext cx="157276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1024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$85K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12464" y="15270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Maximum Salary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31536" y="91440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31536" y="914400"/>
            <a:ext cx="1572768" cy="9144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1024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608E"/>
                </a:solidFill>
              </a:rPr>
              <a:t>$29K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31536" y="15270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Minimum Salary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50608" y="914400"/>
            <a:ext cx="15727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50608" y="914400"/>
            <a:ext cx="1572768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1024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</a:rPr>
              <a:t>$56K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50608" y="152704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Salary Range (Spread)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Gender Pay Breakdown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606040"/>
            <a:ext cx="3749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606040"/>
            <a:ext cx="109728" cy="100584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715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608E"/>
                </a:solidFill>
              </a:rPr>
              <a:t>Female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Avg Salary: $55.37K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Share: 51.16%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27889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608E"/>
                </a:solidFill>
              </a:rPr>
              <a:t>55.37K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65760" y="3749040"/>
            <a:ext cx="3749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749040"/>
            <a:ext cx="109728" cy="100584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FBF"/>
                </a:solidFill>
              </a:rPr>
              <a:t>Male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436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Avg Salary: $52.86K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Share: 48.84%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26080" y="39319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6FBF"/>
                </a:solidFill>
              </a:rPr>
              <a:t>52.86K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572000" y="2194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Distribution Insights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0" y="260604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2606040"/>
            <a:ext cx="109728" cy="74980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2670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Age Range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73168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The 25–35 bracket is the dominant cohort, indicating a predominantly young workforce with long tenure potential.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0" y="345643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0" y="3456432"/>
            <a:ext cx="10972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Pay Equity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73168" y="3776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Gender pay gap is marginal (~4.7%), with females earning slightly more on average — a positive equity signal.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430682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0" y="4306824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43708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Headcount Growth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73168" y="46268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Organization scaled from 1 to 161 employees, a 16,000%+ growth rate over 5 years.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719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— Column Guide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109728" cy="82296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05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Emp 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298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6FBF"/>
                </a:solidFill>
              </a:rPr>
              <a:t>Numeric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0789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Unique identifier per employee. Used for counting, deduplication, and joining.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14400"/>
            <a:ext cx="10972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005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First Name / Filter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01768" y="1298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</a:rPr>
              <a:t>Text (A–F)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10789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First character of name used as an interactive filter in the Power BI dashboard.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901952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901952"/>
            <a:ext cx="10972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Gender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9E0B"/>
                </a:solidFill>
              </a:rPr>
              <a:t>Binary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20665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Male / Female. Used for demographic segmentation and pay equity analysis.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901952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901952"/>
            <a:ext cx="109728" cy="82296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01768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2608E"/>
                </a:solidFill>
              </a:rPr>
              <a:t>Integer (binned)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6520" y="20665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Grouped into 5-year bins (20–65) for distribution charting and cohort analysis.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889504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889504"/>
            <a:ext cx="109728" cy="8229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29809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Date of Join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32735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4155"/>
                </a:solidFill>
              </a:rPr>
              <a:t>Date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0" y="30540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Hiring date used to calculate running employee count totals and growth trends.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889504"/>
            <a:ext cx="4251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889504"/>
            <a:ext cx="109728" cy="82296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29809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Job Title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01768" y="32735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6FBF"/>
                </a:solidFill>
              </a:rPr>
              <a:t>10 Categories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30540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Defines role type. Ranges from Packaging Associate to Marketing Manager.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877056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877056"/>
            <a:ext cx="10972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9684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Salary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42428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</a:rPr>
              <a:t>Float ($K)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65960" y="40416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Annual compensation. Used for avg, min, max and gender pay comparison metrics.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</a:rPr>
              <a:t>Key Relationship: Salary ↔ Gender | Date of Join → Growth Trend | Job Title → Role Distribution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11599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Overview &amp; Rationale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789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Why is Data Cleaning Required?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</a:rPr>
              <a:t>Raw HR data often contains inconsistencies that lead to inaccurate analytics. Cleaning ensures every metric, chart, and KPI reflects reliable ground truth.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57400"/>
            <a:ext cx="2697480" cy="9144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286000"/>
            <a:ext cx="320040" cy="32004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58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Data Integrity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715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Ensures counts, averages, and distributions are not skewed by corrupt or missing records.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205740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057400"/>
            <a:ext cx="26974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0712" y="2286000"/>
            <a:ext cx="320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258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Consistency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10712" y="2715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Standardizing formats (dates, salary notation) makes cross-column comparisons valid.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205740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057400"/>
            <a:ext cx="2697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2286000"/>
            <a:ext cx="3200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585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1072" y="27157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Removes false outliers or entry errors that would distort min/max/avg salary figures.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20440"/>
            <a:ext cx="2697480" cy="9144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749040"/>
            <a:ext cx="320040" cy="32004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7216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Completeness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Filling or flagging nulls prevents under-counting in headcount and demographic splits.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352044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3520440"/>
            <a:ext cx="26974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10712" y="3749040"/>
            <a:ext cx="3200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37216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Deduplication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10712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Ensures each employee is counted once, preventing inflated headcount metrics.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352044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520440"/>
            <a:ext cx="2697480" cy="914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1072" y="3749040"/>
            <a:ext cx="320040" cy="3200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37216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Type Correctness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91072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Numeric fields (salary, age) must be typed correctly for arithmetic operations in Power BI.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651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Detailed Steps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30352" cy="59436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033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Missing Values: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033272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Checked for NULL or blank entries across all 7 columns. No critical nulls found; salary and gender fields were complete for all 161 records.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64208"/>
            <a:ext cx="53035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64208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737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Duplicate Removal: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173736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Verified Emp ID uniqueness. Confirmed zero duplicate records — each row represents a distinct employee.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68296"/>
            <a:ext cx="530352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68296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441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Data Type Corrections: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244144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Converted 'Date of Join' to Date type; 'Salary' to Decimal Number; 'Age' to Whole Number in Power BI Power Query Editor.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72384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72384"/>
            <a:ext cx="530352" cy="59436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72384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1455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Outlier Treatment: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314553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Checked salary distribution: $29K–$85K range is plausible for the role mix. No outliers requiring removal were identified.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776472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76472"/>
            <a:ext cx="530352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76472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8496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Category Standardization: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384962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Verified Gender values are consistently 'Male'/'Female' — no mixed formats (e.g. 'M', 'F', 'male'). Job Title casing standardized.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48056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480560"/>
            <a:ext cx="530352" cy="5943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480560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553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Derived Column Validation: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0" y="4553712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Confirmed that the 'First Character' filter column (A–F from First Name) was correctly extracted and contained no invalid characters.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651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109728" cy="713232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1051560"/>
            <a:ext cx="1188720" cy="27432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051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New Column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</a:rPr>
              <a:t>Age Bins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344168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Age field was grouped into 5-year bins (20–25, 25–30, etc.) using Power Query's 'Group By' logic to enable distribution bar charts.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83080"/>
            <a:ext cx="10972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852891"/>
            <a:ext cx="11887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6035040" y="1852891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DAX Measure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</a:rPr>
              <a:t>Running Total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167128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emp_count running total = CALCULATE(COUNTROWS(Employee), FILTER(ALL(Employee), Employee[Date of Join] &lt;= MAX(Employee[Date of Join]))) — used in the growth line chart.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60604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720340"/>
            <a:ext cx="11887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7203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Derived Column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</a:rPr>
              <a:t>First Character Filter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2990088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= LEFT([First Name], 1) — extracts first letter to power the A–F slicer for dynamic name filtering.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42900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29000"/>
            <a:ext cx="109728" cy="713232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3508834"/>
            <a:ext cx="1188720" cy="27432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5433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DAX Measure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436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</a:rPr>
              <a:t>Avg Salary by Gender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3813048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AVERAGEX(FILTER(Employee, Employee[Gender] = "Female"), Employee[Salary]) — calculated separately for Male and Female for the pay equity pie chart.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251960"/>
            <a:ext cx="109728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4366260"/>
            <a:ext cx="118872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43662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Aggregation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</a:rPr>
              <a:t>Employee Count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" y="4636008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COUNTROWS(Employee) — base measure used across KPI cards, bar charts, and growth line chart as the primary metric.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Tools &amp; Technologies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Technology stack powering the end-to-end analysis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6908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069080" cy="10972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1435608"/>
            <a:ext cx="731520" cy="256032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435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xlsx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43560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FBF"/>
                </a:solidFill>
              </a:rPr>
              <a:t>Microsoft Excel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Primary data storage and initial review. Used for exploring raw structure, checking column types, and validating record counts before importing into Power BI.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06908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234440"/>
            <a:ext cx="40690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9560" y="1435608"/>
            <a:ext cx="7315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1435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pbix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143560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Microsoft Power BI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828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Core analytics and dashboarding platform. All DAX measures, Power Query transformations, chart visuals, slicers, and KPI cards were built here.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06908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63240"/>
            <a:ext cx="40690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3264408"/>
            <a:ext cx="7315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2644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ETL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326440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Power Query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3657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Used within Power BI to apply data cleaning steps: type corrections, age binning, derived column creation, and null handling.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063240"/>
            <a:ext cx="406908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063240"/>
            <a:ext cx="4069080" cy="109728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9560" y="3264408"/>
            <a:ext cx="731520" cy="256032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32644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Measures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92040" y="326440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608E"/>
                </a:solidFill>
              </a:rPr>
              <a:t>DAX (Data Analysis Expressions)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657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Calculated measures including running totals, gender-split averages, employee counts, and dynamic KPI values powering the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05269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94360" cy="86868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9601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What is the age distribution of the workforce, and which cohort is most dominant?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59436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60120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22392" y="9601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Is there a gender pay gap, and how significant is it across the organization?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84248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984248"/>
            <a:ext cx="5943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84248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198424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How has the organization's headcount grown over time from 2018 to 2023?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984248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984248"/>
            <a:ext cx="594360" cy="86868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984248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22392" y="1984248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Which job titles have the highest employee concentration, and what does this indicate operationally?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008376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08376"/>
            <a:ext cx="594360" cy="8686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008376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78992" y="300837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What is the gender balance of the workforce, and how does it compare across salary brackets?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008376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08376"/>
            <a:ext cx="594360" cy="86868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008376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22392" y="300837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Are there specific periods of accelerated hiring, and what might have caused them?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032504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032504"/>
            <a:ext cx="594360" cy="86868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32504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78992" y="4032504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How are specialized roles (Marketing, Research) distributed relative to operational roles?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4032504"/>
            <a:ext cx="4069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4032504"/>
            <a:ext cx="59436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032504"/>
            <a:ext cx="594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22392" y="4032504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What is the compensation spread and what strategic risks or opportunities does it present?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1089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Initial Observations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109728" cy="1261872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124712"/>
            <a:ext cx="365760" cy="36576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0972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Age Concentration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The 25–35 range holds the highest employee density. This suggests the organization attracts and retains early-career to mid-career talent, typical of a growth-phase company.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10972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0328" y="1124712"/>
            <a:ext cx="365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0972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Gender Parity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032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With a near 50/50 split (51.16% Female vs. 48.84% Male), the workforce shows healthy gender diversity — a competitive talent advantage.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77440"/>
            <a:ext cx="109728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542032"/>
            <a:ext cx="3657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25146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Hiring Surge (2020–2022)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2971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The steepest hiring phase occurred between early 2020 and mid-2022, likely driven by market expansion or product line growth. Headcount jumped from 62 to 121 in this period.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37744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377440"/>
            <a:ext cx="109728" cy="1261872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10328" y="2542032"/>
            <a:ext cx="365760" cy="36576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25146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Operational Role Dominance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0328" y="2971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Top 3 roles (Packaging Associate, Production Operator, Sales Rep) account for ~37% of headcount, confirming the company's operational-first structure.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94760"/>
            <a:ext cx="109728" cy="12618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3959352"/>
            <a:ext cx="36576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39319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Pay Range is Narrow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43891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With only a $56K spread ($29K–$85K), compensation is relatively compressed. This may limit ability to attract senior specialized talent without structural pay revision.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79476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794760"/>
            <a:ext cx="109728" cy="126187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10328" y="3959352"/>
            <a:ext cx="365760" cy="3657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39319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Pay Equity Signal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0328" y="43891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Female average salary ($55.37K) exceeds Male average ($52.86K) by ~4.7%. While positive for equity, this warrants continued monitoring by role level.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468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Workforce Age Distribution by Gender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6012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960120"/>
            <a:ext cx="2834640" cy="35661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Key Insights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53328" y="1508760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1444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Peak cohort is 25–35 years, making up ~65% of all employees.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53328" y="2057400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1993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Both genders show near-identical distribution curves — balanced recruitment.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53328" y="2606040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2542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Very few employees are 50+ — potential succession planning risk.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53328" y="3154680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30906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The 30–35 bin has the highest absolute count (67 employees combined).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053328" y="3703320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</a:rPr>
              <a:t>Younger workforce means lower avg. tenure — retention programs critical.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017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— Gender Distribution &amp; Pay Comparison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6012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0" y="10058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Average Salary by Gender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0" y="14630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0" y="1463040"/>
            <a:ext cx="109728" cy="12344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5E"/>
                </a:solidFill>
              </a:rPr>
              <a:t>Female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54880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Salary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2B5E"/>
                </a:solidFill>
              </a:rPr>
              <a:t>$55.37K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754880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Workforce share: 51.16%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0" y="292608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2926080"/>
            <a:ext cx="109728" cy="123444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608E"/>
                </a:solidFill>
              </a:rPr>
              <a:t>Male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54880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Avg Salary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8368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2608E"/>
                </a:solidFill>
              </a:rPr>
              <a:t>$52.86K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54880" y="3749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Workforce share: 48.84%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0" y="4526280"/>
            <a:ext cx="42062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09160" y="45537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Pay Gap: ~4.7% — Female employees earn marginally more on average, indicating equitable compensation practices.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" y="4297680"/>
            <a:ext cx="3840480" cy="6858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325112"/>
            <a:ext cx="3657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A near 50/50 gender split reflects strong diversity hiring practices. Maintaining this balance supports inclusive culture initiatives.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971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Employee Count by Job Title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60120"/>
          <a:ext cx="55778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Role Breakdown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463040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72200" y="1463040"/>
            <a:ext cx="91440" cy="749808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527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Top 3 Roles = 37%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55080" y="18105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Packaging (22), Production (20), Sales (18) dominate headcount.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172200" y="2359152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72200" y="2359152"/>
            <a:ext cx="914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24231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Operational Core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55080" y="27066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Production-heavy structure suits a manufacturing/consumer goods business model.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72200" y="3255264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3255264"/>
            <a:ext cx="91440" cy="74980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33192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Balanced Mid-Tier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55080" y="36027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Chocolatier, QC, Product Mgr, Research all at 15–17 — healthy specialization.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72200" y="4151376"/>
            <a:ext cx="26060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72200" y="4151376"/>
            <a:ext cx="914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080" y="42153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Lean Leadership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55080" y="44988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Marketing Manager &amp; Specialist (10 each) — small but strategic support functions.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0386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Workforce Growth Trend (2018–2023)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60120"/>
          <a:ext cx="8412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315968"/>
            <a:ext cx="2724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4315968"/>
            <a:ext cx="272491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4256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Phase 1 (2018–19): Slow Start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6817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 → 21 employees. Early-stage organization building core team.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4315968"/>
            <a:ext cx="2724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4315968"/>
            <a:ext cx="272491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7560" y="44256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Phase 2 (2020–22): Acceleration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37560" y="46817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42 → 121 employees. Rapid scale-up — possibly new product lines or market entry.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26480" y="4315968"/>
            <a:ext cx="2724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4315968"/>
            <a:ext cx="2724912" cy="9144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44256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Phase 3 (2023): Stabilization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17920" y="46817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121 → 161 employees. Growth continues but at a more controlled pace.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834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Chart — Salary Distribution by Role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6012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172200" y="1005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</a:rPr>
              <a:t>Salary Insight Analysis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1463040"/>
            <a:ext cx="2697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80760" y="1463040"/>
            <a:ext cx="914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1527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Org-Wide Range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63640" y="18105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$29K minimum to $85K maximum — a $56K spread across all roles.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80760" y="2359152"/>
            <a:ext cx="2697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80760" y="2359152"/>
            <a:ext cx="914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2423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Leadership Premium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63640" y="2706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Marketing Manager ($72K avg) and Product Manager ($68K avg) command the highest pay.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80760" y="3255264"/>
            <a:ext cx="2697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80760" y="3255264"/>
            <a:ext cx="91440" cy="74980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3319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Entry-Level Base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63640" y="3602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Packaging ($38K) and Production ($42K) roles sit at the lower end of the pay scale.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080760" y="4151376"/>
            <a:ext cx="2697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80760" y="4151376"/>
            <a:ext cx="91440" cy="749808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42153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Avg Benchmark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263640" y="4498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Org average of $54.23K falls between mid-tier roles, balanced across the full range.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834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— Gender Pay &amp; Workforce Share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60120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</a:rPr>
              <a:t>Head-to-Head Comparison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444752"/>
            <a:ext cx="1371600" cy="438912"/>
          </a:xfrm>
          <a:prstGeom prst="rect">
            <a:avLst/>
          </a:prstGeom>
          <a:solidFill>
            <a:srgbClr val="1B2B5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4447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Metric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1444752"/>
            <a:ext cx="1371600" cy="438912"/>
          </a:xfrm>
          <a:prstGeom prst="rect">
            <a:avLst/>
          </a:prstGeom>
          <a:solidFill>
            <a:srgbClr val="1B2B5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14447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Female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589520" y="1444752"/>
            <a:ext cx="1371600" cy="438912"/>
          </a:xfrm>
          <a:prstGeom prst="rect">
            <a:avLst/>
          </a:prstGeom>
          <a:solidFill>
            <a:srgbClr val="1B2B5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14447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Male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54880" y="1920240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9202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Headcount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72200" y="1920240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72200" y="19202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5E"/>
                </a:solidFill>
              </a:rPr>
              <a:t>82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589520" y="1920240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19202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608E"/>
                </a:solidFill>
              </a:rPr>
              <a:t>79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54880" y="2395728"/>
            <a:ext cx="13716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23957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Workforce 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72200" y="2395728"/>
            <a:ext cx="13716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23957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5E"/>
                </a:solidFill>
              </a:rPr>
              <a:t>51.16%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589520" y="2395728"/>
            <a:ext cx="13716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9520" y="23957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608E"/>
                </a:solidFill>
              </a:rPr>
              <a:t>48.84%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54880" y="2871216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28712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Avg Salary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72200" y="2871216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72200" y="28712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5E"/>
                </a:solidFill>
              </a:rPr>
              <a:t>$55,370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589520" y="2871216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9520" y="28712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608E"/>
                </a:solidFill>
              </a:rPr>
              <a:t>$52,860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754880" y="3346704"/>
            <a:ext cx="13716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3467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Pay Difference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172200" y="3346704"/>
            <a:ext cx="13716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72200" y="33467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5E"/>
                </a:solidFill>
              </a:rPr>
              <a:t>+$2,510 (F)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589520" y="3346704"/>
            <a:ext cx="137160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89520" y="33467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608E"/>
                </a:solidFill>
              </a:rPr>
              <a:t>Baseline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754880" y="3822192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38221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Pay Gap %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172200" y="3822192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172200" y="38221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5E"/>
                </a:solidFill>
              </a:rPr>
              <a:t>~4.7% higher (F)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7589520" y="3822192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589520" y="38221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608E"/>
                </a:solidFill>
              </a:rPr>
              <a:t>—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65760" y="4251960"/>
            <a:ext cx="8412480" cy="71323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48640" y="427939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</a:rPr>
              <a:t>Interpretation: The 4.7% pay difference in favor of Female employees is within industry equity benchmarks. However, analysis by role level is recommended to rule out structural pay inequity at senior positions.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Explanation — Layout Overview</a:t>
            </a:r>
            <a:endParaRPr lang="en-US" sz="2600" dirty="0"/>
          </a:p>
        </p:txBody>
      </p:sp>
      <p:pic>
        <p:nvPicPr>
          <p:cNvPr id="6" name="Image 0" descr="/home/claude/Office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96696"/>
            <a:ext cx="530352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005840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1005840"/>
            <a:ext cx="91440" cy="713232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10698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Top Left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26480" y="135331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Clustered bar chart — Employee count by age bins, segmented by gender (Female=dark, Male=pink).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0" y="1847088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1847088"/>
            <a:ext cx="914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19110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Top Center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26480" y="2194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4 KPI cards — Employee Count (161), Average Pay ($54.23K), Maximum Pay ($85K), Minimum Pay ($29K).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43600" y="2688336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0" y="2688336"/>
            <a:ext cx="91440" cy="713232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275234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Top Right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26480" y="30358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Donut/pie chart — Average Pay by Gender split with % labels. Slicer panel for First Name (A–F) and Gender.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43600" y="352958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0" y="3529584"/>
            <a:ext cx="914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35935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Bottom Left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26480" y="387705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Running total line chart — Cumulative employee count over time (Date of Join axis, 2018–2023).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943600" y="4370832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943600" y="4370832"/>
            <a:ext cx="91440" cy="71323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6480" y="44348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5E"/>
                </a:solidFill>
              </a:rPr>
              <a:t>Bottom Right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26480" y="47183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Horizontal bar chart — Employee count per Job Title, sorted descending by headcount.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783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Explanation — KPIs &amp; Visual Cards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09728" cy="187452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</a:rPr>
              <a:t>Employee Count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03327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D6FBF"/>
                </a:solidFill>
              </a:rPr>
              <a:t>161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75488" y="1463040"/>
            <a:ext cx="3657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FBF"/>
                </a:solidFill>
              </a:rPr>
              <a:t>DAX Formula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18288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COUNTROWS(Employee) — Base headcount measure. Responds to all active slicers in real-time.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960120"/>
            <a:ext cx="109728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</a:rPr>
              <a:t>Average Pay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60920" y="103327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59E0B"/>
                </a:solidFill>
              </a:rPr>
              <a:t>$54.23K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818888" y="1463040"/>
            <a:ext cx="3657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554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DAX Formula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AVERAGE(Employee[Salary]) — Dynamically recalculates when gender or name filters are applied.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10972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</a:rPr>
              <a:t>Maximum Pay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09067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D9488"/>
                </a:solidFill>
              </a:rPr>
              <a:t>$85K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75488" y="3520440"/>
            <a:ext cx="3657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611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DAX Formula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" y="3886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MAX(Employee[Salary]) — Shows the highest salary in the filtered dataset.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301752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3017520"/>
            <a:ext cx="109728" cy="187452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</a:rPr>
              <a:t>Minimum Pay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60920" y="309067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2608E"/>
                </a:solidFill>
              </a:rPr>
              <a:t>$29K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818888" y="3520440"/>
            <a:ext cx="3657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3611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2608E"/>
                </a:solidFill>
              </a:rPr>
              <a:t>DAX Formula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18888" y="3886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MIN(Employee[Salary]) — Shows the lowest salary, enabling instant range calculation.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Insights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</a:rPr>
              <a:t>Top findings from the Office Analysis Dashboard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6908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59436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344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Young, Growth-Phase Workforce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65%+ of employees are aged 25–35 — a highly productive cohort that brings energy but requires structured career development paths to retain.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06908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234440"/>
            <a:ext cx="59436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234440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1344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Exceptional Workforce Growth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691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From 1 to 161 employees in 5 years — a 16,000%+ growth rate. The sharpest acceleration occurred in 2020 (COVID-era expansion) and sustained through 2023.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32888"/>
            <a:ext cx="406908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32888"/>
            <a:ext cx="594360" cy="114300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32888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6426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FBF"/>
                </a:solidFill>
              </a:rPr>
              <a:t>Strong Gender Pay Equity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9900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Female employees earn $55.37K vs. $52.86K for Male — a 4.7% difference that is marginal and in favor of females, indicating sound compensation practices.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532888"/>
            <a:ext cx="406908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532888"/>
            <a:ext cx="594360" cy="114300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532888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26426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608E"/>
                </a:solidFill>
              </a:rPr>
              <a:t>Operations-Heavy Structure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29900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Top 3 operational roles (Packaging, Production, Sales) account for 37% of headcount — the company is built for production volume, not knowledge work.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831336"/>
            <a:ext cx="406908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Shape 24"/>
          <p:cNvSpPr/>
          <p:nvPr/>
        </p:nvSpPr>
        <p:spPr>
          <a:xfrm>
            <a:off x="365760" y="3831336"/>
            <a:ext cx="594360" cy="1143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dirty="0">
              <a:highlight>
                <a:srgbClr val="00FFFF"/>
              </a:highlight>
            </a:endParaRPr>
          </a:p>
        </p:txBody>
      </p:sp>
      <p:sp>
        <p:nvSpPr>
          <p:cNvPr id="27" name="Text 25"/>
          <p:cNvSpPr/>
          <p:nvPr/>
        </p:nvSpPr>
        <p:spPr>
          <a:xfrm>
            <a:off x="365760" y="3831336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9410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>
                    <a:lumMod val="75000"/>
                  </a:schemeClr>
                </a:solidFill>
              </a:rPr>
              <a:t>Compressed Pay Scale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97280" y="428853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A $29K–$85K range with an average of $54.23K shows relatively tight compensation bands — risk of losing senior talent to better-paying competitors.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831336"/>
            <a:ext cx="406908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chemeClr val="accent3">
                <a:lumMod val="75000"/>
              </a:scheme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831336"/>
            <a:ext cx="594360" cy="11430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accent3">
                <a:lumMod val="75000"/>
              </a:scheme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831336"/>
            <a:ext cx="594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40680" y="39410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>
                    <a:lumMod val="75000"/>
                  </a:schemeClr>
                </a:solidFill>
              </a:rPr>
              <a:t>Thin Specialized Roles</a:t>
            </a:r>
            <a:endParaRPr lang="en-US" sz="11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40680" y="428853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Marketing and Management roles are the smallest segments (10 each). As the company scales, under-investment in strategy and branding could limit growth.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789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109728" cy="1261872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069848"/>
            <a:ext cx="384048" cy="384048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1097280"/>
            <a:ext cx="777240" cy="256032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097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Retention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78992" y="10698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Launch Career Pathing Program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With 65%+ of employees aged 25–35, implement formalized career ladders, mentorship programs, and performance-linked promotions to maximize retention of this high-potential cohort.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60120"/>
            <a:ext cx="109728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0328" y="1069848"/>
            <a:ext cx="38404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1097280"/>
            <a:ext cx="7772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1097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Operations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22392" y="10698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Efficiency Audit: Production Ops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0328" y="15544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Packaging (22) and Production (20) dominate headcount. Conduct an operational efficiency review — automation, process improvements, or role consolidation could yield significant ROI.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37744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377440"/>
            <a:ext cx="10972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2487168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20440" y="2514600"/>
            <a:ext cx="7772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2514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Compensation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78992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Expand Compensation Bands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2971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The current $29K–$85K range may not attract senior specialized talent. Consider tiered pay structures with market-benchmarked bands for senior and specialized roles.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37744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377440"/>
            <a:ext cx="109728" cy="1261872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10328" y="2487168"/>
            <a:ext cx="384048" cy="384048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863840" y="2514600"/>
            <a:ext cx="777240" cy="256032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2514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Growth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422392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Invest in Specialized Roles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10328" y="2971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Marketing and Management are the smallest segments (10 each). As the company has scaled to 161 employees, stronger brand, strategy, and leadership support is needed.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379476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794760"/>
            <a:ext cx="109728" cy="12618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3904488"/>
            <a:ext cx="384048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520440" y="3931920"/>
            <a:ext cx="77724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0440" y="39319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Equity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078992" y="39044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Monitor Pay Equity by Role Level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6928" y="43891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While overall gender pay equity is positive, deeper analysis by job title level is recommended to ensure parity is maintained across senior positions.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3794760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3794760"/>
            <a:ext cx="109728" cy="126187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10328" y="3904488"/>
            <a:ext cx="384048" cy="38404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0328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R6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863840" y="3931920"/>
            <a:ext cx="777240" cy="25603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63840" y="39319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Continuity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422392" y="39044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</a:rPr>
              <a:t>Succession Planning for 50+ Cohort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10328" y="43891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Very few employees are aged 50+. Identify high-impact roles and begin knowledge transfer and succession planning before institutional knowledge is lost.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</a:rPr>
              <a:t>Summary of Findings &amp; Final Thoughts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This Office Analysis reveals a young, rapidly-growing, and operationally-focused organization. Over five transformative years (2018–2023), the company scaled from 1 to 161 employees — a remarkable 160x growth. The workforce maintains strong gender diversity (51/49 split) and equitable compensation, while operational roles dominate headcount in line with a manufacturing/consumer goods business model.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406908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468880"/>
            <a:ext cx="914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60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Growth Achievement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1D5DB"/>
                </a:solidFill>
              </a:rPr>
              <a:t>161 employees, 5-year journey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2468880"/>
            <a:ext cx="406908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468880"/>
            <a:ext cx="9144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560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Balanced Workforce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1D5DB"/>
                </a:solidFill>
              </a:rPr>
              <a:t>51/49 gender split — diversity strength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406908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493008"/>
            <a:ext cx="91440" cy="822960"/>
          </a:xfrm>
          <a:prstGeom prst="rect">
            <a:avLst/>
          </a:prstGeom>
          <a:solidFill>
            <a:srgbClr val="2D6FBF"/>
          </a:solidFill>
          <a:ln w="12700">
            <a:solidFill>
              <a:srgbClr val="2D6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84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FBF"/>
                </a:solidFill>
              </a:rPr>
              <a:t>Equitable Pay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1D5DB"/>
                </a:solidFill>
              </a:rPr>
              <a:t>~4.7% gap, within acceptable benchmarks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493008"/>
            <a:ext cx="406908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493008"/>
            <a:ext cx="91440" cy="822960"/>
          </a:xfrm>
          <a:prstGeom prst="rect">
            <a:avLst/>
          </a:prstGeom>
          <a:solidFill>
            <a:srgbClr val="C2608E"/>
          </a:solidFill>
          <a:ln w="12700">
            <a:solidFill>
              <a:srgbClr val="C260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584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608E"/>
                </a:solidFill>
              </a:rPr>
              <a:t>Operational Core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1D5DB"/>
                </a:solidFill>
              </a:rPr>
              <a:t>Packaging &amp; Production lead headcount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3024</Words>
  <Application>Microsoft Office PowerPoint</Application>
  <PresentationFormat>On-screen Show (16:9)</PresentationFormat>
  <Paragraphs>437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Analysis Dashboard — Executive Presentation</dc:title>
  <dc:subject>PptxGenJS Presentation</dc:subject>
  <dc:creator>Data Analytics Team</dc:creator>
  <cp:lastModifiedBy>Sonali Shekhawat</cp:lastModifiedBy>
  <cp:revision>1</cp:revision>
  <dcterms:created xsi:type="dcterms:W3CDTF">2026-03-18T11:56:53Z</dcterms:created>
  <dcterms:modified xsi:type="dcterms:W3CDTF">2026-03-19T09:48:23Z</dcterms:modified>
</cp:coreProperties>
</file>